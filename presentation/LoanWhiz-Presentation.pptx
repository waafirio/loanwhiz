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FB6F0"/>
                </a:solidFill>
                <a:latin typeface="Calibri"/>
              </a:rPr>
              <a:t>BARCELONA AI TINKERERS  ·  STRUCTURED FINANCE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6596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600" b="1" i="0">
                <a:solidFill>
                  <a:srgbClr val="FFFFFF"/>
                </a:solidFill>
                <a:latin typeface="Calibri"/>
              </a:rPr>
              <a:t>LoanWhiz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 i="0">
                <a:solidFill>
                  <a:srgbClr val="CFDBEE"/>
                </a:solidFill>
                <a:latin typeface="Calibri"/>
              </a:rPr>
              <a:t>A Structured Finance </a:t>
            </a:r>
            <a:r>
              <a:rPr sz="2800" b="1" i="0">
                <a:solidFill>
                  <a:srgbClr val="129E8F"/>
                </a:solidFill>
                <a:latin typeface="Calibri"/>
              </a:rPr>
              <a:t>Agent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77639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B9C6DC"/>
                </a:solidFill>
                <a:latin typeface="Calibri"/>
              </a:rPr>
              <a:t>Turns a 300-page prospectus and ESMA loan tapes into a machine-executable,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B9C6DC"/>
                </a:solidFill>
                <a:latin typeface="Calibri"/>
              </a:rPr>
              <a:t>fully-audited deal model that an agent can reason over and operate.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Challenge 1 — Agent Framework</a:t>
            </a:r>
            <a:r>
              <a:rPr sz="1300" b="0" i="0">
                <a:solidFill>
                  <a:srgbClr val="9FB0CC"/>
                </a:solidFill>
                <a:latin typeface="Calibri"/>
              </a:rPr>
              <a:t>      Gemini 2.5 (Vertex AI) · LangGraph · Docling · FINOS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EA6E8"/>
                </a:solidFill>
                <a:latin typeface="Calibri"/>
              </a:rPr>
              <a:t>github.com/waafirio/loanwhiz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9E8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The deal logic is locked inside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35024"/>
            <a:ext cx="548640" cy="3810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36177"/>
                </a:solidFill>
                <a:latin typeface="Calibri"/>
              </a:rPr>
              <a:t>LoanWhiz</a:t>
            </a:r>
            <a:r>
              <a:rPr sz="900" b="0" i="0">
                <a:solidFill>
                  <a:srgbClr val="6B7A90"/>
                </a:solidFill>
                <a:latin typeface="Calibri"/>
              </a:rPr>
              <a:t>  ·  Structured Finance Agent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90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6177"/>
                </a:solidFill>
                <a:latin typeface="Calibri"/>
              </a:rPr>
              <a:t>Every securitisation encodes its rules — </a:t>
            </a:r>
            <a:r>
              <a:rPr sz="1500" b="1" i="0">
                <a:solidFill>
                  <a:srgbClr val="162033"/>
                </a:solidFill>
                <a:latin typeface="Calibri"/>
              </a:rPr>
              <a:t>who gets paid, in what order, under which triggers</a:t>
            </a:r>
            <a:r>
              <a:rPr sz="1500" b="0" i="0">
                <a:solidFill>
                  <a:srgbClr val="536177"/>
                </a:solidFill>
                <a:latin typeface="Calibri"/>
              </a:rPr>
              <a:t> — in prose, not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3502152" cy="3200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468880"/>
            <a:ext cx="82296" cy="320040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67004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Prospectus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90672"/>
            <a:ext cx="2999232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~300 pages.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Waterfalls, triggers, covenants and definitions written as legal English.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Cross-referenced.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A single payment step pulls in a dozen defined terms.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Scanned / OCR-heavy.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Tables and clauses that break naive parsers.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468880"/>
            <a:ext cx="3502152" cy="3200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468880"/>
            <a:ext cx="82296" cy="320040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67004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ESMA loan tapes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090672"/>
            <a:ext cx="2999232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Loan-level.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Annex-2 RMBS tapes, tens of thousands of rows per period.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Monthly.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Performance, arrears and collections that move every reporting date.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Must reconcile.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Against the prospectus rules and the investor report.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468880"/>
            <a:ext cx="3502152" cy="3200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2468880"/>
            <a:ext cx="82296" cy="3200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67004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Today it's manual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090672"/>
            <a:ext cx="2999232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Analysts read by hand.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Slow, expensive, hard to audit, easy to get wrong.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Chatbots can't execute.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Naive RAG retrieves text; it can't run a waterfall.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No provenance.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An answer with no citation is useless to a trustee.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36177"/>
                </a:solidFill>
                <a:latin typeface="Calibri"/>
              </a:rPr>
              <a:t>The hackathon asks for an AI solution finance can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trust and operate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 — not a document chatbot.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9E8F"/>
                </a:solidFill>
                <a:latin typeface="Calibri"/>
              </a:rPr>
              <a:t>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Don't chat about the deal — compile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35024"/>
            <a:ext cx="548640" cy="3810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36177"/>
                </a:solidFill>
                <a:latin typeface="Calibri"/>
              </a:rPr>
              <a:t>LoanWhiz</a:t>
            </a:r>
            <a:r>
              <a:rPr sz="900" b="0" i="0">
                <a:solidFill>
                  <a:srgbClr val="6B7A90"/>
                </a:solidFill>
                <a:latin typeface="Calibri"/>
              </a:rPr>
              <a:t>  ·  Structured Finance Agent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90"/>
                </a:solidFill>
                <a:latin typeface="Calibr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6177"/>
                </a:solidFill>
                <a:latin typeface="Calibri"/>
              </a:rPr>
              <a:t>We separate three concerns that a chatbot collapses into one. </a:t>
            </a:r>
            <a:r>
              <a:rPr sz="1500" b="1" i="0">
                <a:solidFill>
                  <a:srgbClr val="162033"/>
                </a:solidFill>
                <a:latin typeface="Calibri"/>
              </a:rPr>
              <a:t>Read once, execute deterministically, orchestrate with an agent.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3502152" cy="31546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468880"/>
            <a:ext cx="82296" cy="315468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67004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Calibri"/>
              </a:rPr>
              <a:t>1 · 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90672"/>
            <a:ext cx="2999232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Prospectus → deal model.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Docling + section-routed Gemini 2.5 Pro produce structured JSON.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Done once, cached.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Extraction is the expensive step; never repeated at query time.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Every fact cited.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Verbatim excerpt + section for each extracted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468880"/>
            <a:ext cx="3502152" cy="31546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468880"/>
            <a:ext cx="82296" cy="315468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67004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Calibri"/>
              </a:rPr>
              <a:t>2 · 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090672"/>
            <a:ext cx="2999232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SF-native primitives.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Waterfall, covenant monitor, projector — typed, testable, deterministic.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No LLM in the maths.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The agent calls code; numbers are computed, not generated.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Composable.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A registry the agent and UI both discover.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468880"/>
            <a:ext cx="3502152" cy="31546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2468880"/>
            <a:ext cx="82296" cy="3154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67004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Calibri"/>
              </a:rPr>
              <a:t>3 · Orchestrate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090672"/>
            <a:ext cx="2999232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LangGraph agent.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Plans which primitives to call, in what order, then explains.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Grounded answers.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Responses cite the deal model and tape rows they used.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Governed. </a:t>
            </a:r>
            <a:r>
              <a:rPr sz="1350" b="0" i="0">
                <a:solidFill>
                  <a:srgbClr val="536177"/>
                </a:solidFill>
                <a:latin typeface="Calibri"/>
              </a:rPr>
              <a:t>Every call carries an audit entry and confidence score.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6188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29E8F"/>
                </a:solidFill>
                <a:latin typeface="Calibri"/>
              </a:rPr>
              <a:t>Key insight:  </a:t>
            </a:r>
            <a:r>
              <a:rPr sz="1400" b="1" i="0">
                <a:solidFill>
                  <a:srgbClr val="162033"/>
                </a:solidFill>
                <a:latin typeface="Calibri"/>
              </a:rPr>
              <a:t>the LLM's job is comprehension and orchestration — never arithmetic. That's what makes it auditable.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9E8F"/>
                </a:solidFill>
                <a:latin typeface="Calibri"/>
              </a:rPr>
              <a:t>HOW IT FITS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35024"/>
            <a:ext cx="548640" cy="3810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36177"/>
                </a:solidFill>
                <a:latin typeface="Calibri"/>
              </a:rPr>
              <a:t>LoanWhiz</a:t>
            </a:r>
            <a:r>
              <a:rPr sz="900" b="0" i="0">
                <a:solidFill>
                  <a:srgbClr val="6B7A90"/>
                </a:solidFill>
                <a:latin typeface="Calibri"/>
              </a:rPr>
              <a:t>  ·  Structured Finance Agent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90"/>
                </a:solidFill>
                <a:latin typeface="Calibr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645920"/>
            <a:ext cx="4800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Demo UI  ·  Next.js dashboard + docked chat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36177"/>
                </a:solidFill>
                <a:latin typeface="Calibri"/>
              </a:rPr>
              <a:t>5 deal views — Overview · Pool · Waterfall · Compliance · Projection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51663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1645920"/>
            <a:ext cx="4892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REST API  ·  FastAPI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36177"/>
                </a:solidFill>
                <a:latin typeface="Calibri"/>
              </a:rPr>
              <a:t>/deals · /deal/{id}/model · /waterfall · /compliance · /primitives · /query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97880" y="2423160"/>
            <a:ext cx="502920" cy="411480"/>
          </a:xfrm>
          <a:prstGeom prst="downArrow">
            <a:avLst/>
          </a:prstGeom>
          <a:solidFill>
            <a:srgbClr val="AFB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69748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ECF1FB"/>
          </a:solidFill>
          <a:ln w="15875">
            <a:solidFill>
              <a:srgbClr val="2B59D6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0720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B59D6"/>
                </a:solidFill>
                <a:latin typeface="Calibri"/>
              </a:rPr>
              <a:t>LANGGRAPH AGENT SERVICE</a:t>
            </a:r>
            <a:r>
              <a:rPr sz="1200" b="0" i="0">
                <a:solidFill>
                  <a:srgbClr val="536177"/>
                </a:solidFill>
                <a:latin typeface="Calibri"/>
              </a:rPr>
              <a:t>    Planner → DAG executor → validator → confidence scorer → human-review router →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6440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9E8F"/>
                </a:solidFill>
                <a:latin typeface="Calibri"/>
              </a:rPr>
              <a:t>Governance layer:  </a:t>
            </a:r>
            <a:r>
              <a:rPr sz="1150" b="0" i="0">
                <a:solidFill>
                  <a:srgbClr val="536177"/>
                </a:solidFill>
                <a:latin typeface="Calibri"/>
              </a:rPr>
              <a:t>FINOS AI Governance Framework — citations, replay, model-risk classification on every call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017520" y="3840480"/>
            <a:ext cx="457200" cy="365760"/>
          </a:xfrm>
          <a:prstGeom prst="downArrow">
            <a:avLst/>
          </a:prstGeom>
          <a:solidFill>
            <a:srgbClr val="AFB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8595360" y="3840480"/>
            <a:ext cx="457200" cy="365760"/>
          </a:xfrm>
          <a:prstGeom prst="downArrow">
            <a:avLst/>
          </a:prstGeom>
          <a:solidFill>
            <a:srgbClr val="AFB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224528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315968"/>
            <a:ext cx="49834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SF PRIMITIVES  (registry)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36177"/>
                </a:solidFill>
                <a:latin typeface="Calibri"/>
              </a:rPr>
              <a:t>tape_normaliser · collections_aggregator · waterfall_runner · multi_period_runner
covenant_monitor · report_verifier · cashflow_projector · audit_logger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224528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4315968"/>
            <a:ext cx="49834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DEAL MODEL  (JSON, per deal)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36177"/>
                </a:solidFill>
                <a:latin typeface="Calibri"/>
              </a:rPr>
              <a:t>definitions{} · waterfalls[] (Revenue/Redemption/Post-Enf) · triggers[] · tranches[]
extracted from the prospectus, cited, cached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532120" y="5394960"/>
            <a:ext cx="457200" cy="320040"/>
          </a:xfrm>
          <a:prstGeom prst="downArrow">
            <a:avLst/>
          </a:prstGeom>
          <a:solidFill>
            <a:srgbClr val="AFB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650992"/>
            <a:ext cx="10881360" cy="64008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742432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DATA LAYER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7D3E8"/>
                </a:solidFill>
                <a:latin typeface="Calibri"/>
              </a:rPr>
              <a:t>Docling extraction (prospectus → JSON)   ·   deeploans ETL / ESMA tape ingestion   ·   HuggingFace: green-lion-2026 + green-lion-2024-2025 (27-month history)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9E8F"/>
                </a:solidFill>
                <a:latin typeface="Calibri"/>
              </a:rPr>
              <a:t>THE EXTRACTION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From prospectus to executable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35024"/>
            <a:ext cx="548640" cy="3810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36177"/>
                </a:solidFill>
                <a:latin typeface="Calibri"/>
              </a:rPr>
              <a:t>LoanWhiz</a:t>
            </a:r>
            <a:r>
              <a:rPr sz="900" b="0" i="0">
                <a:solidFill>
                  <a:srgbClr val="6B7A90"/>
                </a:solidFill>
                <a:latin typeface="Calibri"/>
              </a:rPr>
              <a:t>  ·  Structured Finance Agent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90"/>
                </a:solidFill>
                <a:latin typeface="Calibr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883664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883664" cy="91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29968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36177"/>
                </a:solidFill>
                <a:latin typeface="Calibri"/>
              </a:rPr>
              <a:t>300-page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36177"/>
                </a:solidFill>
                <a:latin typeface="Calibri"/>
              </a:rPr>
              <a:t>prospectus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42032" y="2359152"/>
            <a:ext cx="237744" cy="310896"/>
          </a:xfrm>
          <a:prstGeom prst="rightArrow">
            <a:avLst/>
          </a:prstGeom>
          <a:solidFill>
            <a:srgbClr val="AFB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98064" y="1828800"/>
            <a:ext cx="1883664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8064" y="1828800"/>
            <a:ext cx="1883664" cy="9144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2" y="2029968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Docling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9504" y="2487168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36177"/>
                </a:solidFill>
                <a:latin typeface="Calibri"/>
              </a:rPr>
              <a:t>structure-aware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36177"/>
                </a:solidFill>
                <a:latin typeface="Calibri"/>
              </a:rPr>
              <a:t>PDF → markdown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00016" y="2359152"/>
            <a:ext cx="237744" cy="310896"/>
          </a:xfrm>
          <a:prstGeom prst="rightArrow">
            <a:avLst/>
          </a:prstGeom>
          <a:solidFill>
            <a:srgbClr val="AFB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56048" y="1828800"/>
            <a:ext cx="1883664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6048" y="1828800"/>
            <a:ext cx="1883664" cy="9144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2029968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Section 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2487168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36177"/>
                </a:solidFill>
                <a:latin typeface="Calibri"/>
              </a:rPr>
              <a:t>scope each call to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36177"/>
                </a:solidFill>
                <a:latin typeface="Calibri"/>
              </a:rPr>
              <a:t>the right section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858000" y="2359152"/>
            <a:ext cx="237744" cy="310896"/>
          </a:xfrm>
          <a:prstGeom prst="rightArrow">
            <a:avLst/>
          </a:prstGeom>
          <a:solidFill>
            <a:srgbClr val="AFB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14032" y="1828800"/>
            <a:ext cx="1883664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14032" y="1828800"/>
            <a:ext cx="1883664" cy="9144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2029968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Gemini 2.5 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2487168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36177"/>
                </a:solidFill>
                <a:latin typeface="Calibri"/>
              </a:rPr>
              <a:t>structured extraction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36177"/>
                </a:solidFill>
                <a:latin typeface="Calibri"/>
              </a:rPr>
              <a:t>(forced JSON)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015984" y="2359152"/>
            <a:ext cx="237744" cy="310896"/>
          </a:xfrm>
          <a:prstGeom prst="rightArrow">
            <a:avLst/>
          </a:prstGeom>
          <a:solidFill>
            <a:srgbClr val="AFB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72016" y="1828800"/>
            <a:ext cx="1883664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72016" y="1828800"/>
            <a:ext cx="1883664" cy="91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81744" y="2029968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Deal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3456" y="2487168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36177"/>
                </a:solidFill>
                <a:latin typeface="Calibri"/>
              </a:rPr>
              <a:t>waterfalls · triggers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36177"/>
                </a:solidFill>
                <a:latin typeface="Calibri"/>
              </a:rPr>
              <a:t>tranches · definitions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611880"/>
            <a:ext cx="3502152" cy="22402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3611880"/>
            <a:ext cx="82296" cy="2240280"/>
          </a:xfrm>
          <a:prstGeom prst="rect">
            <a:avLst/>
          </a:prstGeom>
          <a:solidFill>
            <a:srgbClr val="B77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381304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Why not naive RAG?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233672"/>
            <a:ext cx="299923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Chunk-and-retrieve loses the ordered structure a waterfall depends 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It returns passages — you still can't execute the deal.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Section-routing keeps each LLM call small, scoped and low-hallucination.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5112" y="3611880"/>
            <a:ext cx="3502152" cy="22402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25112" y="3611880"/>
            <a:ext cx="82296" cy="224028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81144" y="381304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Zero-shot, no training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4233672"/>
            <a:ext cx="299923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No fine-tuning, no curated corpus — Gemini 2.5 Pro's pre-trained capability.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Forced function-calling guarantees typed, schema-valid output.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Portable to any ESMA-style RMBS/ABS prospectus.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10144" y="3611880"/>
            <a:ext cx="3502152" cy="22402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10144" y="3611880"/>
            <a:ext cx="82296" cy="224028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6176" y="381304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Cited &amp; cached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6176" y="4233672"/>
            <a:ext cx="299923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Every step, term and threshold carries a verbatim source excerpt.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Confidence = coverage · cross-ref resolution · LLM self-score.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Extracted once, cached durably under data/ — query time is instant.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9E8F"/>
                </a:solidFill>
                <a:latin typeface="Calibri"/>
              </a:rPr>
              <a:t>THE FRAMEWORK'S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SF-native primitives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35024"/>
            <a:ext cx="548640" cy="3810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36177"/>
                </a:solidFill>
                <a:latin typeface="Calibri"/>
              </a:rPr>
              <a:t>LoanWhiz</a:t>
            </a:r>
            <a:r>
              <a:rPr sz="900" b="0" i="0">
                <a:solidFill>
                  <a:srgbClr val="6B7A90"/>
                </a:solidFill>
                <a:latin typeface="Calibri"/>
              </a:rPr>
              <a:t>  ·  Structured Finance Agent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90"/>
                </a:solidFill>
                <a:latin typeface="Calibr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36177"/>
                </a:solidFill>
                <a:latin typeface="Calibri"/>
              </a:rPr>
              <a:t>A registry of composable, typed operations. Each is independently testable, returns a confidence score and citations, </a:t>
            </a:r>
            <a:r>
              <a:rPr sz="1350" b="1" i="0">
                <a:solidFill>
                  <a:srgbClr val="162033"/>
                </a:solidFill>
                <a:latin typeface="Calibri"/>
              </a:rPr>
              <a:t>and is discoverable by the agent and the 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12848"/>
            <a:ext cx="5394960" cy="9326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12848"/>
            <a:ext cx="73152" cy="932688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322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esma_tape_normaliser  </a:t>
            </a:r>
            <a:r>
              <a:rPr sz="950" b="0" i="0">
                <a:solidFill>
                  <a:srgbClr val="6B7A90"/>
                </a:solidFill>
                <a:latin typeface="Calibri"/>
              </a:rPr>
              <a:t>v0.1.0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624328"/>
            <a:ext cx="5010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7"/>
                </a:solidFill>
                <a:latin typeface="Calibri"/>
              </a:rPr>
              <a:t>Normalise Annex-2 tapes → pool analytics: WAL, arrears, EPC / geo / rate distributions.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55264"/>
            <a:ext cx="5394960" cy="9326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55264"/>
            <a:ext cx="73152" cy="932688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36499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collections_aggregator  </a:t>
            </a:r>
            <a:r>
              <a:rPr sz="950" b="0" i="0">
                <a:solidFill>
                  <a:srgbClr val="6B7A90"/>
                </a:solidFill>
                <a:latin typeface="Calibri"/>
              </a:rPr>
              <a:t>v0.1.0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666744"/>
            <a:ext cx="5010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7"/>
                </a:solidFill>
                <a:latin typeface="Calibri"/>
              </a:rPr>
              <a:t>Aggregate monthly interest, principal, prepayments and recoveries into waterfall inputs.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5394960" cy="9326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73152" cy="932688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40740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waterfall_runner  </a:t>
            </a:r>
            <a:r>
              <a:rPr sz="950" b="0" i="0">
                <a:solidFill>
                  <a:srgbClr val="6B7A90"/>
                </a:solidFill>
                <a:latin typeface="Calibri"/>
              </a:rPr>
              <a:t>v0.1.0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709160"/>
            <a:ext cx="5010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7"/>
                </a:solidFill>
                <a:latin typeface="Calibri"/>
              </a:rPr>
              <a:t>Execute the extracted waterfall against a period's collections; per-tranche distributions + trace.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40096"/>
            <a:ext cx="5394960" cy="9326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340096"/>
            <a:ext cx="73152" cy="932688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44982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multi_period_waterfall_runner  </a:t>
            </a:r>
            <a:r>
              <a:rPr sz="950" b="0" i="0">
                <a:solidFill>
                  <a:srgbClr val="6B7A90"/>
                </a:solidFill>
                <a:latin typeface="Calibri"/>
              </a:rPr>
              <a:t>v0.1.0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751576"/>
            <a:ext cx="5010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7"/>
                </a:solidFill>
                <a:latin typeface="Calibri"/>
              </a:rPr>
              <a:t>Run the waterfall across periods with persistent PDL and reserve-account 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212848"/>
            <a:ext cx="5394960" cy="9326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212848"/>
            <a:ext cx="73152" cy="932688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3225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covenant_monitor  </a:t>
            </a:r>
            <a:r>
              <a:rPr sz="950" b="0" i="0">
                <a:solidFill>
                  <a:srgbClr val="6B7A90"/>
                </a:solidFill>
                <a:latin typeface="Calibri"/>
              </a:rPr>
              <a:t>v0.1.0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2624328"/>
            <a:ext cx="5010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7"/>
                </a:solidFill>
                <a:latin typeface="Calibri"/>
              </a:rPr>
              <a:t>Check tape metrics against extracted trigger thresholds; track breach proximity over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255264"/>
            <a:ext cx="5394960" cy="9326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3255264"/>
            <a:ext cx="73152" cy="932688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336499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report_verifier  </a:t>
            </a:r>
            <a:r>
              <a:rPr sz="950" b="0" i="0">
                <a:solidFill>
                  <a:srgbClr val="6B7A90"/>
                </a:solidFill>
                <a:latin typeface="Calibri"/>
              </a:rPr>
              <a:t>v0.1.0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3666744"/>
            <a:ext cx="5010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7"/>
                </a:solidFill>
                <a:latin typeface="Calibri"/>
              </a:rPr>
              <a:t>Reconcile computed distributions against investor-report actuals; flag discrepancies.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4297680"/>
            <a:ext cx="5394960" cy="9326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4297680"/>
            <a:ext cx="73152" cy="932688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440740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cashflow_projector  </a:t>
            </a:r>
            <a:r>
              <a:rPr sz="950" b="0" i="0">
                <a:solidFill>
                  <a:srgbClr val="6B7A90"/>
                </a:solidFill>
                <a:latin typeface="Calibri"/>
              </a:rPr>
              <a:t>v0.1.0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4709160"/>
            <a:ext cx="5010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7"/>
                </a:solidFill>
                <a:latin typeface="Calibri"/>
              </a:rPr>
              <a:t>Project 12-month cashflows under base and stress scenarios; Class-A WAL.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5340096"/>
            <a:ext cx="5394960" cy="9326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5340096"/>
            <a:ext cx="73152" cy="932688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44982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audit_logger  </a:t>
            </a:r>
            <a:r>
              <a:rPr sz="950" b="0" i="0">
                <a:solidFill>
                  <a:srgbClr val="6B7A90"/>
                </a:solidFill>
                <a:latin typeface="Calibri"/>
              </a:rPr>
              <a:t>v0.1.0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751576"/>
            <a:ext cx="5010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7"/>
                </a:solidFill>
                <a:latin typeface="Calibri"/>
              </a:rPr>
              <a:t>Wrap every call with FINOS provenance: input/output hashes, confidence, citations, model 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9E8F"/>
                </a:solidFill>
                <a:latin typeface="Calibri"/>
              </a:rPr>
              <a:t>TRUST — FINOS AI GOVERNANCE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Governance is baked into the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35024"/>
            <a:ext cx="548640" cy="3810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36177"/>
                </a:solidFill>
                <a:latin typeface="Calibri"/>
              </a:rPr>
              <a:t>LoanWhiz</a:t>
            </a:r>
            <a:r>
              <a:rPr sz="900" b="0" i="0">
                <a:solidFill>
                  <a:srgbClr val="6B7A90"/>
                </a:solidFill>
                <a:latin typeface="Calibri"/>
              </a:rPr>
              <a:t>  ·  Structured Finance Agent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90"/>
                </a:solidFill>
                <a:latin typeface="Calibr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2033"/>
                </a:solidFill>
                <a:latin typeface="Calibri"/>
              </a:rPr>
              <a:t>Not a post-hoc add-on. </a:t>
            </a:r>
            <a:r>
              <a:rPr sz="1400" b="0" i="0">
                <a:solidFill>
                  <a:srgbClr val="536177"/>
                </a:solidFill>
                <a:latin typeface="Calibri"/>
              </a:rPr>
              <a:t>No primitive may return an output without a corresponding audit entry — the thing that makes this usable in finance.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3502152" cy="14813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386584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Audit trail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2715768"/>
            <a:ext cx="411480" cy="3175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825496"/>
            <a:ext cx="31181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7"/>
                </a:solidFill>
                <a:latin typeface="Calibri"/>
              </a:rPr>
              <a:t>Append-only AuditEntry per call: input/output hashes, model version, timestamp, duration.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240280"/>
            <a:ext cx="3502152" cy="14813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386584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Confidence scoring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44568" y="2715768"/>
            <a:ext cx="411480" cy="3175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825496"/>
            <a:ext cx="31181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7"/>
                </a:solidFill>
                <a:latin typeface="Calibri"/>
              </a:rPr>
              <a:t>Mandatory on every primitive — coverage · cross-ref resolution · LLM self-assessment.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240280"/>
            <a:ext cx="3502152" cy="14813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386584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Verbatim citations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715768"/>
            <a:ext cx="411480" cy="3175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2825496"/>
            <a:ext cx="31181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7"/>
                </a:solidFill>
                <a:latin typeface="Calibri"/>
              </a:rPr>
              <a:t>Every fact grounded to a section + verbatim excerpt; a reviewer can locate the source.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86200"/>
            <a:ext cx="3502152" cy="14813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032504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Replayability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" y="4361688"/>
            <a:ext cx="411480" cy="3175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471416"/>
            <a:ext cx="31181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7"/>
                </a:solidFill>
                <a:latin typeface="Calibri"/>
              </a:rPr>
              <a:t>Input hash + model version identify each request; runs are comparable for drift.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5112" y="3886200"/>
            <a:ext cx="3502152" cy="14813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032504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Human-review routing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44568" y="4361688"/>
            <a:ext cx="411480" cy="3175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471416"/>
            <a:ext cx="31181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7"/>
                </a:solidFill>
                <a:latin typeface="Calibri"/>
              </a:rPr>
              <a:t>Confidence &lt; 0.70 → human_review_required = True; output can't be used until signed off.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0144" y="3886200"/>
            <a:ext cx="3502152" cy="14813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4032504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Model-risk class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361688"/>
            <a:ext cx="411480" cy="3175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4471416"/>
            <a:ext cx="31181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7"/>
                </a:solidFill>
                <a:latin typeface="Calibri"/>
              </a:rPr>
              <a:t>Decision-support tier, zero autonomy — outputs are analytical inputs, never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9E8F"/>
                </a:solidFill>
                <a:latin typeface="Calibr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A working product,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35024"/>
            <a:ext cx="548640" cy="3810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36177"/>
                </a:solidFill>
                <a:latin typeface="Calibri"/>
              </a:rPr>
              <a:t>LoanWhiz</a:t>
            </a:r>
            <a:r>
              <a:rPr sz="900" b="0" i="0">
                <a:solidFill>
                  <a:srgbClr val="6B7A90"/>
                </a:solidFill>
                <a:latin typeface="Calibri"/>
              </a:rPr>
              <a:t>  ·  Structured Finance Agent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90"/>
                </a:solidFill>
                <a:latin typeface="Calibr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36177"/>
                </a:solidFill>
                <a:latin typeface="Calibri"/>
              </a:rPr>
              <a:t>One loaded deal shared across five dashboard views plus a docked chat panel — all served over the same REST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350215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3502152" cy="9144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4140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798064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7"/>
                </a:solidFill>
                <a:latin typeface="Calibri"/>
              </a:rPr>
              <a:t>Extracted deal model — tranche structure, trigger names, completeness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194560"/>
            <a:ext cx="350215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194560"/>
            <a:ext cx="3502152" cy="9144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4140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Pool &amp;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798064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7"/>
                </a:solidFill>
                <a:latin typeface="Calibri"/>
              </a:rPr>
              <a:t>3-period pool analytics; arrears, EPC and geographic distributions.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194560"/>
            <a:ext cx="350215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2194560"/>
            <a:ext cx="3502152" cy="9144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4140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Waterfall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798064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7"/>
                </a:solidFill>
                <a:latin typeface="Calibri"/>
              </a:rPr>
              <a:t>Revenue priority cascade and per-tranche distributions for the period.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57600"/>
            <a:ext cx="350215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657600"/>
            <a:ext cx="3502152" cy="9144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87705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261104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7"/>
                </a:solidFill>
                <a:latin typeface="Calibri"/>
              </a:rPr>
              <a:t>Live covenant monitor across reporting periods, with breach proximity.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5112" y="3657600"/>
            <a:ext cx="350215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5112" y="3657600"/>
            <a:ext cx="3502152" cy="9144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87705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Projection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261104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7"/>
                </a:solidFill>
                <a:latin typeface="Calibri"/>
              </a:rPr>
              <a:t>Base vs stress forward cashflows, including Class-A WAL.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0144" y="3657600"/>
            <a:ext cx="350215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10144" y="3657600"/>
            <a:ext cx="3502152" cy="9144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87705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Docked chat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4261104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7"/>
                </a:solidFill>
                <a:latin typeface="Calibri"/>
              </a:rPr>
              <a:t>Ad-hoc deal questions, grounded in the loaded deal model and tapes.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7A90"/>
                </a:solidFill>
                <a:latin typeface="Calibri"/>
              </a:rPr>
              <a:t>Surfaces the framework primitives directly in the UI — the challenge asks to see the building blocks, not just answers.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9E8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Proven on Green Lion 2026-1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35024"/>
            <a:ext cx="548640" cy="3810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36177"/>
                </a:solidFill>
                <a:latin typeface="Calibri"/>
              </a:rPr>
              <a:t>LoanWhiz</a:t>
            </a:r>
            <a:r>
              <a:rPr sz="900" b="0" i="0">
                <a:solidFill>
                  <a:srgbClr val="6B7A90"/>
                </a:solidFill>
                <a:latin typeface="Calibri"/>
              </a:rPr>
              <a:t>  ·  Structured Finance Agent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90"/>
                </a:solidFill>
                <a:latin typeface="Calibr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36177"/>
                </a:solidFill>
                <a:latin typeface="Calibri"/>
              </a:rPr>
              <a:t>A complete synthetic Dutch RMBS released for the hackathon: prospectus + 27 months of ESMA tapes (2024–2026) + 3 investor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2615184" cy="16916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04872"/>
            <a:ext cx="26151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2B59D6"/>
                </a:solidFill>
                <a:latin typeface="Calibri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72968"/>
            <a:ext cx="26151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monthly tapes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483864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6177"/>
                </a:solidFill>
                <a:latin typeface="Calibri"/>
              </a:rPr>
              <a:t>Jan 2024 – Apr 2026 ESMA history (Jan-2026 gap)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2240280"/>
            <a:ext cx="2615184" cy="16916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2404872"/>
            <a:ext cx="26151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2B59D6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3172968"/>
            <a:ext cx="26151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revenue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483864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6177"/>
                </a:solidFill>
                <a:latin typeface="Calibri"/>
              </a:rPr>
              <a:t>Full Revenue Priority of Payments (a)–(k), cited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2240280"/>
            <a:ext cx="2615184" cy="16916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404872"/>
            <a:ext cx="26151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2B59D6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3172968"/>
            <a:ext cx="26151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waterfalls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483864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6177"/>
                </a:solidFill>
                <a:latin typeface="Calibri"/>
              </a:rPr>
              <a:t>Revenue · Redemption · Post-Enforcement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2240280"/>
            <a:ext cx="2615184" cy="16916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1704" y="2404872"/>
            <a:ext cx="26151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2B59D6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3172968"/>
            <a:ext cx="26151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live triggers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3483864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6177"/>
                </a:solidFill>
                <a:latin typeface="Calibri"/>
              </a:rPr>
              <a:t>Class A &amp; B PDL + reserve-fund shortfall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5196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251960"/>
            <a:ext cx="82296" cy="1737360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45312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End-to-end, verified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873752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Prospectus → deal model → waterfall execution → reconciliation runs clean.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Confidence 0.75 with every tranche, step and trigger source-cited.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Chat answers grounded numbers (e.g. pool balance €1.03bn) live.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25196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251960"/>
            <a:ext cx="82296" cy="173736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445312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Data-agnostic by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4873752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Add a deal via data/deals.json — no code change; Green-Lion defaults fill the gaps.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Proven over 27 months of monthly tapes (2024–2026), not a single snapshot.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536177"/>
                </a:solidFill>
                <a:latin typeface="Calibri"/>
              </a:rPr>
              <a:t>Durable cache: extract once, then instant; deal-context keys resolve per deal.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9E8F"/>
                </a:solidFill>
                <a:latin typeface="Calibri"/>
              </a:rPr>
              <a:t>STACK &amp;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Built on open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35024"/>
            <a:ext cx="548640" cy="3810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36177"/>
                </a:solidFill>
                <a:latin typeface="Calibri"/>
              </a:rPr>
              <a:t>LoanWhiz</a:t>
            </a:r>
            <a:r>
              <a:rPr sz="900" b="0" i="0">
                <a:solidFill>
                  <a:srgbClr val="6B7A90"/>
                </a:solidFill>
                <a:latin typeface="Calibri"/>
              </a:rPr>
              <a:t>  ·  Structured Finance Agent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90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502152" cy="8686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01952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Gemini 2.5 Pro /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03704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7"/>
                </a:solidFill>
                <a:latin typeface="Calibri"/>
              </a:rPr>
              <a:t>Extraction &amp; agent orchestration (Vertex AI)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783080"/>
            <a:ext cx="3502152" cy="8686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783080"/>
            <a:ext cx="73152" cy="86868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901952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LangGraph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203704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7"/>
                </a:solidFill>
                <a:latin typeface="Calibri"/>
              </a:rPr>
              <a:t>ReAct planner + DAG execution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783080"/>
            <a:ext cx="3502152" cy="8686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783080"/>
            <a:ext cx="73152" cy="86868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01952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Docling (IBM)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03704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7"/>
                </a:solidFill>
                <a:latin typeface="Calibri"/>
              </a:rPr>
              <a:t>Structure-aware PDF → markdown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798064"/>
            <a:ext cx="3502152" cy="8686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798064"/>
            <a:ext cx="73152" cy="86868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291693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FINOS AI Gov.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3218688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7"/>
                </a:solidFill>
                <a:latin typeface="Calibri"/>
              </a:rPr>
              <a:t>Audit, confidence, model-risk patterns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2798064"/>
            <a:ext cx="3502152" cy="8686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5112" y="2798064"/>
            <a:ext cx="73152" cy="86868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291693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deeploans (Algoritmica)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3218688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7"/>
                </a:solidFill>
                <a:latin typeface="Calibri"/>
              </a:rPr>
              <a:t>ESMA loan-tape ingestion ETL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0144" y="2798064"/>
            <a:ext cx="3502152" cy="8686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0144" y="2798064"/>
            <a:ext cx="73152" cy="868680"/>
          </a:xfrm>
          <a:prstGeom prst="rect">
            <a:avLst/>
          </a:prstGeom>
          <a:solidFill>
            <a:srgbClr val="2B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91693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FastAPI + Next.js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218688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7"/>
                </a:solidFill>
                <a:latin typeface="Calibri"/>
              </a:rPr>
              <a:t>REST API and the demo dashboard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794760"/>
            <a:ext cx="10881360" cy="224028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  <a:effectLst>
            <a:outerShdw blurRad="90000" dist="40000" dir="5400000" rotWithShape="0">
              <a:srgbClr val="1B2A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3794760"/>
            <a:ext cx="10881360" cy="82296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05079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Why it answers the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5720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A reusable agent framework</a:t>
            </a:r>
            <a:r>
              <a:rPr sz="1350" b="0" i="0">
                <a:solidFill>
                  <a:srgbClr val="C7D3E8"/>
                </a:solidFill>
                <a:latin typeface="Calibri"/>
              </a:rPr>
              <a:t> — SF-native primitives + a registry, not a one-off script.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Executes deal logic</a:t>
            </a:r>
            <a:r>
              <a:rPr sz="1350" b="0" i="0">
                <a:solidFill>
                  <a:srgbClr val="C7D3E8"/>
                </a:solidFill>
                <a:latin typeface="Calibri"/>
              </a:rPr>
              <a:t> — extracts a machine-runnable model and computes real numbers, deterministically.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Trustworthy by construction</a:t>
            </a:r>
            <a:r>
              <a:rPr sz="1350" b="0" i="0">
                <a:solidFill>
                  <a:srgbClr val="C7D3E8"/>
                </a:solidFill>
                <a:latin typeface="Calibri"/>
              </a:rPr>
              <a:t> — citations, confidence and human-review routing on every output.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29E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Data-agnostic &amp; extensible</a:t>
            </a:r>
            <a:r>
              <a:rPr sz="1350" b="0" i="0">
                <a:solidFill>
                  <a:srgbClr val="C7D3E8"/>
                </a:solidFill>
                <a:latin typeface="Calibri"/>
              </a:rPr>
              <a:t> — Apache-2.0; add a deal via data/deals.json (no code change), add a primitive in a few 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