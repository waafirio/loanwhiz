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29E8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12191695" cy="54864"/>
          </a:xfrm>
          <a:prstGeom prst="rect">
            <a:avLst/>
          </a:prstGeom>
          <a:solidFill>
            <a:srgbClr val="129E8F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2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BARCELONA AI TINKERERS · STRUCTURED FINANCE HACKATHON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86384" y="18745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LoanWhiz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822960" y="315468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 Finance Agent Framework — compile the deal, don't chat about it.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41248" y="4160520"/>
            <a:ext cx="1216152" cy="310896"/>
          </a:xfrm>
          <a:prstGeom prst="roundRect">
            <a:avLst>
              <a:gd name="adj" fmla="val 14706"/>
            </a:avLst>
          </a:prstGeom>
          <a:solidFill>
            <a:srgbClr val="2B59D6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4160520"/>
            <a:ext cx="1216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2.5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21992" y="4160520"/>
            <a:ext cx="1120140" cy="310896"/>
          </a:xfrm>
          <a:prstGeom prst="roundRect">
            <a:avLst>
              <a:gd name="adj" fmla="val 14706"/>
            </a:avLst>
          </a:prstGeom>
          <a:solidFill>
            <a:srgbClr val="2B59D6"/>
          </a:solidFill>
          <a:ln/>
        </p:spPr>
      </p:sp>
      <p:sp>
        <p:nvSpPr>
          <p:cNvPr id="10" name="Text 8"/>
          <p:cNvSpPr/>
          <p:nvPr/>
        </p:nvSpPr>
        <p:spPr>
          <a:xfrm>
            <a:off x="2221992" y="4160520"/>
            <a:ext cx="11201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506724" y="4160520"/>
            <a:ext cx="1005840" cy="310896"/>
          </a:xfrm>
          <a:prstGeom prst="roundRect">
            <a:avLst>
              <a:gd name="adj" fmla="val 14706"/>
            </a:avLst>
          </a:prstGeom>
          <a:solidFill>
            <a:srgbClr val="2B59D6"/>
          </a:solidFill>
          <a:ln/>
        </p:spPr>
      </p:sp>
      <p:sp>
        <p:nvSpPr>
          <p:cNvPr id="12" name="Text 10"/>
          <p:cNvSpPr/>
          <p:nvPr/>
        </p:nvSpPr>
        <p:spPr>
          <a:xfrm>
            <a:off x="3506724" y="416052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Docling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77156" y="4160520"/>
            <a:ext cx="1888236" cy="310896"/>
          </a:xfrm>
          <a:prstGeom prst="roundRect">
            <a:avLst>
              <a:gd name="adj" fmla="val 14706"/>
            </a:avLst>
          </a:prstGeom>
          <a:solidFill>
            <a:srgbClr val="2B59D6"/>
          </a:solidFill>
          <a:ln/>
        </p:spPr>
      </p:sp>
      <p:sp>
        <p:nvSpPr>
          <p:cNvPr id="14" name="Text 12"/>
          <p:cNvSpPr/>
          <p:nvPr/>
        </p:nvSpPr>
        <p:spPr>
          <a:xfrm>
            <a:off x="4677156" y="4160520"/>
            <a:ext cx="18882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FINOS + deeploans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github.com/waafirio/loanwhiz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59D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2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chat about the deal — compile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335024"/>
            <a:ext cx="548640" cy="36576"/>
          </a:xfrm>
          <a:prstGeom prst="rect">
            <a:avLst/>
          </a:prstGeom>
          <a:solidFill>
            <a:srgbClr val="129E8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LoanWhiz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Structured Finance Agent Framework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058400" y="643737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572768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concerns a chatbot collapses into one. Read once, execute deterministically, orchestrate with an agent.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3515258" cy="3703320"/>
          </a:xfrm>
          <a:prstGeom prst="roundRect">
            <a:avLst>
              <a:gd name="adj" fmla="val 1301"/>
            </a:avLst>
          </a:prstGeom>
          <a:solidFill>
            <a:srgbClr val="F4F7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423160"/>
            <a:ext cx="82296" cy="3703320"/>
          </a:xfrm>
          <a:prstGeom prst="rect">
            <a:avLst/>
          </a:prstGeom>
          <a:solidFill>
            <a:srgbClr val="2B59D6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624328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Extract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96112" y="3044952"/>
            <a:ext cx="301233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12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16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Prospectus → model. </a:t>
            </a:r>
            <a:pPr algn="l"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Docling + section-routed Gemini 2.5 Pro produce structured JSON.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12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16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Cited. </a:t>
            </a:r>
            <a:pPr algn="l"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fact carries a verbatim source excerpt.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338218" y="2423160"/>
            <a:ext cx="3515258" cy="3703320"/>
          </a:xfrm>
          <a:prstGeom prst="roundRect">
            <a:avLst>
              <a:gd name="adj" fmla="val 1301"/>
            </a:avLst>
          </a:prstGeom>
          <a:solidFill>
            <a:srgbClr val="F4F7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38218" y="2423160"/>
            <a:ext cx="82296" cy="3703320"/>
          </a:xfrm>
          <a:prstGeom prst="rect">
            <a:avLst/>
          </a:prstGeom>
          <a:solidFill>
            <a:srgbClr val="129E8F"/>
          </a:solidFill>
          <a:ln/>
        </p:spPr>
      </p:sp>
      <p:sp>
        <p:nvSpPr>
          <p:cNvPr id="15" name="Text 13"/>
          <p:cNvSpPr/>
          <p:nvPr/>
        </p:nvSpPr>
        <p:spPr>
          <a:xfrm>
            <a:off x="4594250" y="2624328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Execute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94250" y="3044952"/>
            <a:ext cx="301233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12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16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SF-native primitives. </a:t>
            </a:r>
            <a:pPr algn="l"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Waterfall, covenant monitor, projector — typed and deterministic.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12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16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LLM in the maths. </a:t>
            </a:r>
            <a:pPr algn="l"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are computed, not generated.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036357" y="2423160"/>
            <a:ext cx="3515258" cy="3703320"/>
          </a:xfrm>
          <a:prstGeom prst="roundRect">
            <a:avLst>
              <a:gd name="adj" fmla="val 1301"/>
            </a:avLst>
          </a:prstGeom>
          <a:solidFill>
            <a:srgbClr val="F4F7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036357" y="2423160"/>
            <a:ext cx="82296" cy="37033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/>
          <p:nvPr/>
        </p:nvSpPr>
        <p:spPr>
          <a:xfrm>
            <a:off x="8292389" y="2624328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Orchestrate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92389" y="3044952"/>
            <a:ext cx="301233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12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16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agent. </a:t>
            </a:r>
            <a:pPr algn="l"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 which primitives to call, then explains.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12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162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Governed. </a:t>
            </a:r>
            <a:pPr algn="l"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carries an audit entry + confidence.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59D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2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PROOF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against a real ING deal — to the cent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335024"/>
            <a:ext cx="548640" cy="36576"/>
          </a:xfrm>
          <a:prstGeom prst="rect">
            <a:avLst/>
          </a:prstGeom>
          <a:solidFill>
            <a:srgbClr val="129E8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LoanWhiz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Structured Finance Agent Framework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058400" y="643737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572768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Lion 2024-1: our engine re-runs the deal's own published Notes &amp; Cash waterfall. No report distribution figures fed in — Class A interest is computed (balance × coupon × days/360).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2583866" cy="1783080"/>
          </a:xfrm>
          <a:prstGeom prst="roundRect">
            <a:avLst>
              <a:gd name="adj" fmla="val 2564"/>
            </a:avLst>
          </a:prstGeom>
          <a:solidFill>
            <a:srgbClr val="F4F7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606040"/>
            <a:ext cx="258386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2B5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11/11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640080" y="3383280"/>
            <a:ext cx="258386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PoP steps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" y="3703320"/>
            <a:ext cx="22546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reconciled to the cent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15970" y="2423160"/>
            <a:ext cx="2583866" cy="1783080"/>
          </a:xfrm>
          <a:prstGeom prst="roundRect">
            <a:avLst>
              <a:gd name="adj" fmla="val 2564"/>
            </a:avLst>
          </a:prstGeom>
          <a:solidFill>
            <a:srgbClr val="F4F7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415970" y="2606040"/>
            <a:ext cx="258386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2B5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4/4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3415970" y="3383280"/>
            <a:ext cx="258386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redemption steps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580562" y="3703320"/>
            <a:ext cx="22546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cent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91860" y="2423160"/>
            <a:ext cx="2583866" cy="1783080"/>
          </a:xfrm>
          <a:prstGeom prst="roundRect">
            <a:avLst>
              <a:gd name="adj" fmla="val 2564"/>
            </a:avLst>
          </a:prstGeom>
          <a:solidFill>
            <a:srgbClr val="F4F7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191860" y="2606040"/>
            <a:ext cx="258386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2B5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€0.00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6191860" y="3383280"/>
            <a:ext cx="258386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 gap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56452" y="3703320"/>
            <a:ext cx="22546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report's own €0.69 rounding modelled, not fudged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967749" y="2423160"/>
            <a:ext cx="2583866" cy="1783080"/>
          </a:xfrm>
          <a:prstGeom prst="roundRect">
            <a:avLst>
              <a:gd name="adj" fmla="val 2564"/>
            </a:avLst>
          </a:prstGeom>
          <a:solidFill>
            <a:srgbClr val="F4F7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7749" y="2606040"/>
            <a:ext cx="258386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2B5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200" dirty="0"/>
          </a:p>
        </p:txBody>
      </p:sp>
      <p:sp>
        <p:nvSpPr>
          <p:cNvPr id="23" name="Text 21"/>
          <p:cNvSpPr/>
          <p:nvPr/>
        </p:nvSpPr>
        <p:spPr>
          <a:xfrm>
            <a:off x="8967749" y="3383280"/>
            <a:ext cx="258386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ING deal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32341" y="3703320"/>
            <a:ext cx="22546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own published quarterly report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59D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2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BROADLY APPLICABLE — NOT HARDCODED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primitives across three jurisdictions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335024"/>
            <a:ext cx="548640" cy="36576"/>
          </a:xfrm>
          <a:prstGeom prst="rect">
            <a:avLst/>
          </a:prstGeom>
          <a:solidFill>
            <a:srgbClr val="129E8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LoanWhiz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Structured Finance Agent Framework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058400" y="643737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2727884"/>
                <a:gridCol w="2727884"/>
                <a:gridCol w="2727884"/>
                <a:gridCol w="272788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Jurisdiction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data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361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 Lion 2026-1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361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361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loan tapes + prospectus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361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model · collateral reconciled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361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 Lion 2024-1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361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361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reports + prospectus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361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validated to the cent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361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 Lion 2023-1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361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361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reports + prospectus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361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extracted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361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Leone Arancio 2023-1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361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361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prospectus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361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 — real cited triggers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361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Sol-Lion II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361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361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prospectus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361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 — minimal extraction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6126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unmodified pipeline runs end-to-end on all five. Extraction completeness is honest — non-English prospectuses extract partially; we show that, we don't fake it.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29E8F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2468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2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REUSABILITY YOU CAN SEE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1248" y="288036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capability matrix, not a claim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68680" y="397764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/capability-matrix runs every primitive across every deal and renders it in the /showcase view: validated / ran / not-applicable, each cell carrying its real reason. Today: 1 validated, 9 ran, 15 not-applicable. N/A is shown as honest scope — never hidden, never coloured green.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59D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2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PACKAGED FOR REUSE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infrastructure, not a one-off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335024"/>
            <a:ext cx="548640" cy="36576"/>
          </a:xfrm>
          <a:prstGeom prst="rect">
            <a:avLst/>
          </a:prstGeom>
          <a:solidFill>
            <a:srgbClr val="129E8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LoanWhiz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Structured Finance Agent Framework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058400" y="643737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828800"/>
            <a:ext cx="3515258" cy="4297680"/>
          </a:xfrm>
          <a:prstGeom prst="roundRect">
            <a:avLst>
              <a:gd name="adj" fmla="val 1301"/>
            </a:avLst>
          </a:prstGeom>
          <a:solidFill>
            <a:srgbClr val="F4F7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1828800"/>
            <a:ext cx="82296" cy="4297680"/>
          </a:xfrm>
          <a:prstGeom prst="rect">
            <a:avLst/>
          </a:prstGeom>
          <a:solidFill>
            <a:srgbClr val="2B59D6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2029968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96112" y="2450592"/>
            <a:ext cx="301233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8 SF primitives exposed as a governed MCP server — typed I/O + the evidence pack — consumable on any MCP host.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38218" y="1828800"/>
            <a:ext cx="3515258" cy="4297680"/>
          </a:xfrm>
          <a:prstGeom prst="roundRect">
            <a:avLst>
              <a:gd name="adj" fmla="val 1301"/>
            </a:avLst>
          </a:prstGeom>
          <a:solidFill>
            <a:srgbClr val="F4F7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38218" y="1828800"/>
            <a:ext cx="82296" cy="4297680"/>
          </a:xfrm>
          <a:prstGeom prst="rect">
            <a:avLst/>
          </a:prstGeom>
          <a:solidFill>
            <a:srgbClr val="129E8F"/>
          </a:solidFill>
          <a:ln/>
        </p:spPr>
      </p:sp>
      <p:sp>
        <p:nvSpPr>
          <p:cNvPr id="14" name="Text 12"/>
          <p:cNvSpPr/>
          <p:nvPr/>
        </p:nvSpPr>
        <p:spPr>
          <a:xfrm>
            <a:off x="4594250" y="2029968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 = data, not code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94250" y="2450592"/>
            <a:ext cx="301233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deal by dropping JSON into deals.json; no Python. The interpreter executes the deal's extracted model, not hardcoded logic.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036357" y="1828800"/>
            <a:ext cx="3515258" cy="4297680"/>
          </a:xfrm>
          <a:prstGeom prst="roundRect">
            <a:avLst>
              <a:gd name="adj" fmla="val 1301"/>
            </a:avLst>
          </a:prstGeom>
          <a:solidFill>
            <a:srgbClr val="F4F7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36357" y="1828800"/>
            <a:ext cx="82296" cy="42976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8292389" y="2029968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&amp; portable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292389" y="2450592"/>
            <a:ext cx="301233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Apache-2.0; CSV or parquet tapes; deeploans (Algoritmica's ESMA ETL) on the ingestion path with a direct fallback.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59D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2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— FINOS AI GOVERNANCE FRAMEWORK + DEEPLOANS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is baked into the interface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335024"/>
            <a:ext cx="548640" cy="36576"/>
          </a:xfrm>
          <a:prstGeom prst="rect">
            <a:avLst/>
          </a:prstGeom>
          <a:solidFill>
            <a:srgbClr val="129E8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LoanWhiz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Structured Finance Agent Framework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058400" y="643737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828800"/>
            <a:ext cx="3515258" cy="2066544"/>
          </a:xfrm>
          <a:prstGeom prst="roundRect">
            <a:avLst>
              <a:gd name="adj" fmla="val 2212"/>
            </a:avLst>
          </a:prstGeom>
          <a:solidFill>
            <a:srgbClr val="F4F7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1828800"/>
            <a:ext cx="82296" cy="2066544"/>
          </a:xfrm>
          <a:prstGeom prst="rect">
            <a:avLst/>
          </a:prstGeom>
          <a:solidFill>
            <a:srgbClr val="2B59D6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2029968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96112" y="2450592"/>
            <a:ext cx="301233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entry per call: hashes, model version, timestamp, duration.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38218" y="1828800"/>
            <a:ext cx="3515258" cy="2066544"/>
          </a:xfrm>
          <a:prstGeom prst="roundRect">
            <a:avLst>
              <a:gd name="adj" fmla="val 2212"/>
            </a:avLst>
          </a:prstGeom>
          <a:solidFill>
            <a:srgbClr val="F4F7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38218" y="1828800"/>
            <a:ext cx="82296" cy="2066544"/>
          </a:xfrm>
          <a:prstGeom prst="rect">
            <a:avLst/>
          </a:prstGeom>
          <a:solidFill>
            <a:srgbClr val="2B59D6"/>
          </a:solidFill>
          <a:ln/>
        </p:spPr>
      </p:sp>
      <p:sp>
        <p:nvSpPr>
          <p:cNvPr id="14" name="Text 12"/>
          <p:cNvSpPr/>
          <p:nvPr/>
        </p:nvSpPr>
        <p:spPr>
          <a:xfrm>
            <a:off x="4594250" y="2029968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scoring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94250" y="2450592"/>
            <a:ext cx="301233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on every primitive — coverage · cross-ref · self-assessment.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036357" y="1828800"/>
            <a:ext cx="3515258" cy="2066544"/>
          </a:xfrm>
          <a:prstGeom prst="roundRect">
            <a:avLst>
              <a:gd name="adj" fmla="val 2212"/>
            </a:avLst>
          </a:prstGeom>
          <a:solidFill>
            <a:srgbClr val="F4F7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36357" y="1828800"/>
            <a:ext cx="82296" cy="2066544"/>
          </a:xfrm>
          <a:prstGeom prst="rect">
            <a:avLst/>
          </a:prstGeom>
          <a:solidFill>
            <a:srgbClr val="2B59D6"/>
          </a:solidFill>
          <a:ln/>
        </p:spPr>
      </p:sp>
      <p:sp>
        <p:nvSpPr>
          <p:cNvPr id="18" name="Text 16"/>
          <p:cNvSpPr/>
          <p:nvPr/>
        </p:nvSpPr>
        <p:spPr>
          <a:xfrm>
            <a:off x="8292389" y="2029968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Verbatim citations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292389" y="2450592"/>
            <a:ext cx="301233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fact grounded to a section + excerpt a reviewer can locate.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4059936"/>
            <a:ext cx="3515258" cy="2066544"/>
          </a:xfrm>
          <a:prstGeom prst="roundRect">
            <a:avLst>
              <a:gd name="adj" fmla="val 2212"/>
            </a:avLst>
          </a:prstGeom>
          <a:solidFill>
            <a:srgbClr val="F4F7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" y="4059936"/>
            <a:ext cx="82296" cy="2066544"/>
          </a:xfrm>
          <a:prstGeom prst="rect">
            <a:avLst/>
          </a:prstGeom>
          <a:solidFill>
            <a:srgbClr val="2B59D6"/>
          </a:solidFill>
          <a:ln/>
        </p:spPr>
      </p:sp>
      <p:sp>
        <p:nvSpPr>
          <p:cNvPr id="22" name="Text 20"/>
          <p:cNvSpPr/>
          <p:nvPr/>
        </p:nvSpPr>
        <p:spPr>
          <a:xfrm>
            <a:off x="896112" y="4261104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provenance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96112" y="4681728"/>
            <a:ext cx="301233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tape tagged deeploans vs direct, carried into the evidence pack.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338218" y="4059936"/>
            <a:ext cx="3515258" cy="2066544"/>
          </a:xfrm>
          <a:prstGeom prst="roundRect">
            <a:avLst>
              <a:gd name="adj" fmla="val 2212"/>
            </a:avLst>
          </a:prstGeom>
          <a:solidFill>
            <a:srgbClr val="F4F7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338218" y="4059936"/>
            <a:ext cx="82296" cy="2066544"/>
          </a:xfrm>
          <a:prstGeom prst="rect">
            <a:avLst/>
          </a:prstGeom>
          <a:solidFill>
            <a:srgbClr val="2B59D6"/>
          </a:solidFill>
          <a:ln/>
        </p:spPr>
      </p:sp>
      <p:sp>
        <p:nvSpPr>
          <p:cNvPr id="26" name="Text 24"/>
          <p:cNvSpPr/>
          <p:nvPr/>
        </p:nvSpPr>
        <p:spPr>
          <a:xfrm>
            <a:off x="4594250" y="4261104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Human-review routing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594250" y="4681728"/>
            <a:ext cx="301233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&lt; 0.70 → flagged; output can't be used until signed off.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036357" y="4059936"/>
            <a:ext cx="3515258" cy="2066544"/>
          </a:xfrm>
          <a:prstGeom prst="roundRect">
            <a:avLst>
              <a:gd name="adj" fmla="val 2212"/>
            </a:avLst>
          </a:prstGeom>
          <a:solidFill>
            <a:srgbClr val="F4F7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036357" y="4059936"/>
            <a:ext cx="82296" cy="2066544"/>
          </a:xfrm>
          <a:prstGeom prst="rect">
            <a:avLst/>
          </a:prstGeom>
          <a:solidFill>
            <a:srgbClr val="2B59D6"/>
          </a:solidFill>
          <a:ln/>
        </p:spPr>
      </p:sp>
      <p:sp>
        <p:nvSpPr>
          <p:cNvPr id="30" name="Text 28"/>
          <p:cNvSpPr/>
          <p:nvPr/>
        </p:nvSpPr>
        <p:spPr>
          <a:xfrm>
            <a:off x="8292389" y="4261104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Model-risk class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292389" y="4681728"/>
            <a:ext cx="301233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Decision-support tier, zero autonomy — outputs are inputs, never actions.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B59D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2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 — THE DASHBOARD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layers, one product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335024"/>
            <a:ext cx="548640" cy="36576"/>
          </a:xfrm>
          <a:prstGeom prst="rect">
            <a:avLst/>
          </a:prstGeom>
          <a:solidFill>
            <a:srgbClr val="129E8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LoanWhiz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Structured Finance Agent Framework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058400" y="643737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828800"/>
            <a:ext cx="5364328" cy="4297680"/>
          </a:xfrm>
          <a:prstGeom prst="roundRect">
            <a:avLst>
              <a:gd name="adj" fmla="val 1064"/>
            </a:avLst>
          </a:prstGeom>
          <a:solidFill>
            <a:srgbClr val="F4F7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1828800"/>
            <a:ext cx="82296" cy="42976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2029968"/>
            <a:ext cx="490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 Analytics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96112" y="2450592"/>
            <a:ext cx="486140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· Pool &amp; Performance · Waterfall · Compliance · Projection — the per-deal analyst workflow over the extracted model.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87288" y="1828800"/>
            <a:ext cx="5364328" cy="4297680"/>
          </a:xfrm>
          <a:prstGeom prst="roundRect">
            <a:avLst>
              <a:gd name="adj" fmla="val 1064"/>
            </a:avLst>
          </a:prstGeom>
          <a:solidFill>
            <a:srgbClr val="F4F7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87288" y="1828800"/>
            <a:ext cx="82296" cy="4297680"/>
          </a:xfrm>
          <a:prstGeom prst="rect">
            <a:avLst/>
          </a:prstGeom>
          <a:solidFill>
            <a:srgbClr val="2B59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43320" y="2029968"/>
            <a:ext cx="490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&amp; Governance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43320" y="2450592"/>
            <a:ext cx="486140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536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Showcase · Validation · Framework · Governance — the cross-deal, trust &amp; reusability layer that headlines the work.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29E8F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2468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2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ANSWERS THE CHALLENGE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1248" y="288036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Reusable, trustworthy, broadly applicable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68680" y="397764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SF-native primitives + a registry, packaged as an MCP — not a one-off script. Validated to the cent against a real ING deal, demonstrated across Dutch, Italian and Spanish RMBS, with citations, governance and data-provenance on every output. And honest about its limits — the capability matrix shows exactly what's proven.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LoanWhiz</dc:title>
  <dc:subject>PptxGenJS Presentation</dc:subject>
  <dc:creator>PptxGenJS</dc:creator>
  <cp:lastModifiedBy>PptxGenJS</cp:lastModifiedBy>
  <cp:revision>1</cp:revision>
  <dcterms:created xsi:type="dcterms:W3CDTF">2026-06-06T13:43:28Z</dcterms:created>
  <dcterms:modified xsi:type="dcterms:W3CDTF">2026-06-06T13:43:28Z</dcterms:modified>
</cp:coreProperties>
</file>